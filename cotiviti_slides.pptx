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62B22C-2A64-4B6C-827A-E5BD0D72DF41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933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Healthcare Policy Intelligence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441CBB-07DE-4E0B-9954-CC8471FBE10B}"/>
              </a:ext>
            </a:extLst>
          </p:cNvPr>
          <p:cNvSpPr>
            <a:spLocks noGrp="1"/>
          </p:cNvSpPr>
          <p:nvPr/>
        </p:nvSpPr>
        <p:spPr>
          <a:xfrm>
            <a:off x="552450" y="19240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222222"/>
                </a:solidFill>
              </a:defRPr>
            </a:pPr>
            <a:r>
              <a:rPr sz="1875" b="0" dirty="0">
                <a:solidFill>
                  <a:srgbClr val="222222"/>
                </a:solidFill>
              </a:rPr>
              <a:t>Turning written policy into structured, analyst-reviewed rules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0EBE87-5E09-4189-949D-E0A5ACD59CFE}"/>
              </a:ext>
            </a:extLst>
          </p:cNvPr>
          <p:cNvSpPr>
            <a:spLocks noGrp="1"/>
          </p:cNvSpPr>
          <p:nvPr/>
        </p:nvSpPr>
        <p:spPr>
          <a:xfrm>
            <a:off x="552450" y="3028950"/>
            <a:ext cx="4000500" cy="135255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B3AF5-29D1-4F2F-AFFF-B7EFEBA7A383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rPr sz="1800" b="1" dirty="0">
                <a:solidFill>
                  <a:srgbClr val="FF6B35"/>
                </a:solidFill>
              </a:rPr>
              <a:t>Topic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5CD32-C289-4B53-98E1-11743DF80279}"/>
              </a:ext>
            </a:extLst>
          </p:cNvPr>
          <p:cNvSpPr>
            <a:spLocks noGrp="1"/>
          </p:cNvSpPr>
          <p:nvPr/>
        </p:nvSpPr>
        <p:spPr>
          <a:xfrm>
            <a:off x="781050" y="363855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Content management in health care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76FB5C-24CF-4B5D-A8C1-2BDEAFB22EE6}"/>
              </a:ext>
            </a:extLst>
          </p:cNvPr>
          <p:cNvSpPr>
            <a:spLocks noGrp="1"/>
          </p:cNvSpPr>
          <p:nvPr/>
        </p:nvSpPr>
        <p:spPr>
          <a:xfrm>
            <a:off x="552450" y="55626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Cotiviti Intern Assessment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8FE057-38C6-4C04-A97A-F3B7A9312E04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9948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28683BC-05C0-415D-AC05-FC037B5CCCD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report focuses on a practical payer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E8C9B2-D02E-4206-8713-B92A1860E7E5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Long policy documents must become usable operating logic.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8085A-B8B6-4885-950B-4E194D740252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89F8BC-2C3F-4E4B-858A-8F3C95520EB7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3371850" cy="24765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DBE08-DEA1-42F6-A70B-432C5AE805B5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76200" cy="24765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0DFFA7-2902-4E5E-ACF9-F65E59296127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2971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Topic concept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23507-478B-40C1-B0A7-1C4C03A27759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29718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Healthcare policies contain coverage rules, coding rules, prior authorization criteria, documentation requirements, exclusions, and effective dates.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DCA81-816E-466B-9161-F423B534F22B}"/>
              </a:ext>
            </a:extLst>
          </p:cNvPr>
          <p:cNvSpPr>
            <a:spLocks noGrp="1"/>
          </p:cNvSpPr>
          <p:nvPr/>
        </p:nvSpPr>
        <p:spPr>
          <a:xfrm>
            <a:off x="4324350" y="2266950"/>
            <a:ext cx="3371850" cy="24765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413B32-57C3-40BA-AD04-879B63C266C5}"/>
              </a:ext>
            </a:extLst>
          </p:cNvPr>
          <p:cNvSpPr>
            <a:spLocks noGrp="1"/>
          </p:cNvSpPr>
          <p:nvPr/>
        </p:nvSpPr>
        <p:spPr>
          <a:xfrm>
            <a:off x="4324350" y="2266950"/>
            <a:ext cx="76200" cy="24765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ED8951-7D11-45BA-8651-1C3EFFD359C4}"/>
              </a:ext>
            </a:extLst>
          </p:cNvPr>
          <p:cNvSpPr>
            <a:spLocks noGrp="1"/>
          </p:cNvSpPr>
          <p:nvPr/>
        </p:nvSpPr>
        <p:spPr>
          <a:xfrm>
            <a:off x="4552950" y="2476500"/>
            <a:ext cx="2971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Core challenge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A2B446-19B8-4A09-9399-C8DE40C53407}"/>
              </a:ext>
            </a:extLst>
          </p:cNvPr>
          <p:cNvSpPr>
            <a:spLocks noGrp="1"/>
          </p:cNvSpPr>
          <p:nvPr/>
        </p:nvSpPr>
        <p:spPr>
          <a:xfrm>
            <a:off x="4552950" y="2895600"/>
            <a:ext cx="29718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content is written in natural language, but payer systems and analysts need structured rules that can be reviewed and audited.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EDC6AD-C39D-4586-967C-820F3BBFC38D}"/>
              </a:ext>
            </a:extLst>
          </p:cNvPr>
          <p:cNvSpPr>
            <a:spLocks noGrp="1"/>
          </p:cNvSpPr>
          <p:nvPr/>
        </p:nvSpPr>
        <p:spPr>
          <a:xfrm>
            <a:off x="8096250" y="2266950"/>
            <a:ext cx="3371850" cy="24765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BA060F-AA46-430C-ACC9-22FF8C359DFA}"/>
              </a:ext>
            </a:extLst>
          </p:cNvPr>
          <p:cNvSpPr>
            <a:spLocks noGrp="1"/>
          </p:cNvSpPr>
          <p:nvPr/>
        </p:nvSpPr>
        <p:spPr>
          <a:xfrm>
            <a:off x="8096250" y="2266950"/>
            <a:ext cx="76200" cy="24765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AA9E3A-220B-4721-8C11-68D97959B9C5}"/>
              </a:ext>
            </a:extLst>
          </p:cNvPr>
          <p:cNvSpPr>
            <a:spLocks noGrp="1"/>
          </p:cNvSpPr>
          <p:nvPr/>
        </p:nvSpPr>
        <p:spPr>
          <a:xfrm>
            <a:off x="8324850" y="2476500"/>
            <a:ext cx="2971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Report recommendation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15FD60-01C2-4F8E-8E58-9950FDA12C8A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29718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Cotiviti could explore a policy-to-rule pipeline that drafts structured logic while keeping human review in control.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63C367-6FD3-4E3A-B3C0-E96FE5BCA6CC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81891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F5F6AE0-B9A3-47CA-9853-B76EB203D7A4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Payers review claims against policy rules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FE1862-6FEE-40E2-9874-614A06EE35EA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 claim should not be paid or flagged without checking the policy behind it.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0C8A22-D6F4-4D82-89C3-250450FC7091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E4393-B62E-4262-80D2-D201A8992335}"/>
              </a:ext>
            </a:extLst>
          </p:cNvPr>
          <p:cNvSpPr>
            <a:spLocks noGrp="1"/>
          </p:cNvSpPr>
          <p:nvPr/>
        </p:nvSpPr>
        <p:spPr>
          <a:xfrm>
            <a:off x="552450" y="2400300"/>
            <a:ext cx="3238500" cy="11430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DAED6-9242-4CC6-A083-6BCDF1817E17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5E419-1F9F-4582-B5D4-9C6BEBCC8CBB}"/>
              </a:ext>
            </a:extLst>
          </p:cNvPr>
          <p:cNvSpPr>
            <a:spLocks noGrp="1"/>
          </p:cNvSpPr>
          <p:nvPr/>
        </p:nvSpPr>
        <p:spPr>
          <a:xfrm>
            <a:off x="1219200" y="25908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Provider submits a claim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B32859-CE35-4186-B3EE-7EFF5111D734}"/>
              </a:ext>
            </a:extLst>
          </p:cNvPr>
          <p:cNvSpPr>
            <a:spLocks noGrp="1"/>
          </p:cNvSpPr>
          <p:nvPr/>
        </p:nvSpPr>
        <p:spPr>
          <a:xfrm>
            <a:off x="1219200" y="293370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 hospital bills for a service such as knee replacement.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C4190-D38D-4CE7-B483-70DAB938B2B7}"/>
              </a:ext>
            </a:extLst>
          </p:cNvPr>
          <p:cNvSpPr>
            <a:spLocks noGrp="1"/>
          </p:cNvSpPr>
          <p:nvPr/>
        </p:nvSpPr>
        <p:spPr>
          <a:xfrm>
            <a:off x="4362450" y="2400300"/>
            <a:ext cx="3238500" cy="11430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BF4AD-3445-4F43-AAED-1B494E9777F9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C517D-43FE-42A5-ABD6-83EFBCF61E74}"/>
              </a:ext>
            </a:extLst>
          </p:cNvPr>
          <p:cNvSpPr>
            <a:spLocks noGrp="1"/>
          </p:cNvSpPr>
          <p:nvPr/>
        </p:nvSpPr>
        <p:spPr>
          <a:xfrm>
            <a:off x="5029200" y="25908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Payer checks policy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0FC63-338D-4559-88C1-E8CE97F7C9BC}"/>
              </a:ext>
            </a:extLst>
          </p:cNvPr>
          <p:cNvSpPr>
            <a:spLocks noGrp="1"/>
          </p:cNvSpPr>
          <p:nvPr/>
        </p:nvSpPr>
        <p:spPr>
          <a:xfrm>
            <a:off x="5029200" y="293370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payer verifies codes, authorization, documentation, and exclusions.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B55259-2E46-4501-BED3-673C81950821}"/>
              </a:ext>
            </a:extLst>
          </p:cNvPr>
          <p:cNvSpPr>
            <a:spLocks noGrp="1"/>
          </p:cNvSpPr>
          <p:nvPr/>
        </p:nvSpPr>
        <p:spPr>
          <a:xfrm>
            <a:off x="8172450" y="2400300"/>
            <a:ext cx="3238500" cy="11430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462260-DF38-47F5-B0AF-0A02997C793D}"/>
              </a:ext>
            </a:extLst>
          </p:cNvPr>
          <p:cNvSpPr>
            <a:spLocks noGrp="1"/>
          </p:cNvSpPr>
          <p:nvPr/>
        </p:nvSpPr>
        <p:spPr>
          <a:xfrm>
            <a:off x="8343900" y="25527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95E2B3-439A-427C-AF7B-E015251A1079}"/>
              </a:ext>
            </a:extLst>
          </p:cNvPr>
          <p:cNvSpPr>
            <a:spLocks noGrp="1"/>
          </p:cNvSpPr>
          <p:nvPr/>
        </p:nvSpPr>
        <p:spPr>
          <a:xfrm>
            <a:off x="8839200" y="25908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Analyst reviews exceptions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21374D-9CCF-45F8-9607-F94E232C5A4D}"/>
              </a:ext>
            </a:extLst>
          </p:cNvPr>
          <p:cNvSpPr>
            <a:spLocks noGrp="1"/>
          </p:cNvSpPr>
          <p:nvPr/>
        </p:nvSpPr>
        <p:spPr>
          <a:xfrm>
            <a:off x="8839200" y="293370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Missing or changed requirements can trigger manual review.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CFC014-FBA3-459C-A99C-86D3D65D78BB}"/>
              </a:ext>
            </a:extLst>
          </p:cNvPr>
          <p:cNvSpPr>
            <a:spLocks noGrp="1"/>
          </p:cNvSpPr>
          <p:nvPr/>
        </p:nvSpPr>
        <p:spPr>
          <a:xfrm>
            <a:off x="552450" y="49530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POC helps translate the policy step into structured review logic.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86FBBA-5704-44B8-B253-CD803F9FB42A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900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9C9805-52F2-470B-9A1F-AE6BB3B93A0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Research supports computable policy content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C69088-391D-46C5-A70D-818B21C0BF75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report connects current standards and AI research to payer operations.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10886-9774-4F7B-B903-D50643E80E94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2D3C6-E8A6-4A39-B946-F6A3041C0C6F}"/>
              </a:ext>
            </a:extLst>
          </p:cNvPr>
          <p:cNvSpPr>
            <a:spLocks noGrp="1"/>
          </p:cNvSpPr>
          <p:nvPr/>
        </p:nvSpPr>
        <p:spPr>
          <a:xfrm>
            <a:off x="552450" y="24860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EEC480-2A43-476F-A02E-769786B4D70B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7105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CPT coding continues expanding with digital and AI-enabled services.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A2AEB8-F378-4895-941B-0C4D56737EB5}"/>
              </a:ext>
            </a:extLst>
          </p:cNvPr>
          <p:cNvSpPr>
            <a:spLocks noGrp="1"/>
          </p:cNvSpPr>
          <p:nvPr/>
        </p:nvSpPr>
        <p:spPr>
          <a:xfrm>
            <a:off x="552450" y="30956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01125A-EA92-4348-9B78-D030B97893C3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7105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CMS prior authorization modernization pushes payers toward digital workflows.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D309B4-5C4B-46A1-9F2E-6CB62E3374B8}"/>
              </a:ext>
            </a:extLst>
          </p:cNvPr>
          <p:cNvSpPr>
            <a:spLocks noGrp="1"/>
          </p:cNvSpPr>
          <p:nvPr/>
        </p:nvSpPr>
        <p:spPr>
          <a:xfrm>
            <a:off x="552450" y="37052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BADE02-F117-47DC-A137-766EC196881C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7105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CQL and FHIR show how healthcare logic can become machine-readable.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26A7F4-EB62-49C1-BC64-E53BF7E08FB4}"/>
              </a:ext>
            </a:extLst>
          </p:cNvPr>
          <p:cNvSpPr>
            <a:spLocks noGrp="1"/>
          </p:cNvSpPr>
          <p:nvPr/>
        </p:nvSpPr>
        <p:spPr>
          <a:xfrm>
            <a:off x="552450" y="43148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5BBDD6-F210-44FB-AE93-72D237571BBC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7105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LLM research can translate guidelines into structured decisions, but validation is still needed.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7FBF34-92E3-4463-BD9A-0901C52DB6AC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476500" cy="24765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3DBE1F-E3F7-47C1-ACF9-A2E30EC5E54C}"/>
              </a:ext>
            </a:extLst>
          </p:cNvPr>
          <p:cNvSpPr>
            <a:spLocks noGrp="1"/>
          </p:cNvSpPr>
          <p:nvPr/>
        </p:nvSpPr>
        <p:spPr>
          <a:xfrm>
            <a:off x="8810625" y="25336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Key implication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A3F53A-83B2-451E-88FE-67EEFA3BB4DE}"/>
              </a:ext>
            </a:extLst>
          </p:cNvPr>
          <p:cNvSpPr>
            <a:spLocks noGrp="1"/>
          </p:cNvSpPr>
          <p:nvPr/>
        </p:nvSpPr>
        <p:spPr>
          <a:xfrm>
            <a:off x="8810625" y="3105150"/>
            <a:ext cx="19431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AI should help draft and structure policy logic, not make final payment decisions alone.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348DEC-1E8B-45BA-A469-E36D53FF2C09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8969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226D044-27F4-4044-ABE1-A08851E853AF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POC demonstrates the report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6802B-5836-4C7F-9C7C-9F18A9811F9D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Healthcare Policy Analyzer turns old and new policy text into structured outputs.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4AB17B-2AE4-41B7-B79F-2E9BFB48B28A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C3D7EF-174A-41BD-BCB0-9D060DA2B0FA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Core outputs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7C13E0-2138-4A52-BA69-97374660812F}"/>
              </a:ext>
            </a:extLst>
          </p:cNvPr>
          <p:cNvSpPr>
            <a:spLocks noGrp="1"/>
          </p:cNvSpPr>
          <p:nvPr/>
        </p:nvSpPr>
        <p:spPr>
          <a:xfrm>
            <a:off x="552450" y="29241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88C7E-EDF9-40E2-86FC-6AA929FE2850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320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Executive 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21328A-16D8-434B-97A4-A4C66CEBB051}"/>
              </a:ext>
            </a:extLst>
          </p:cNvPr>
          <p:cNvSpPr>
            <a:spLocks noGrp="1"/>
          </p:cNvSpPr>
          <p:nvPr/>
        </p:nvSpPr>
        <p:spPr>
          <a:xfrm>
            <a:off x="552450" y="33432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932EE8-F395-41DB-8961-D266F9DCB4A5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320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Extracted requirements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847EF-24ED-42EB-9D33-5D5A5B516B51}"/>
              </a:ext>
            </a:extLst>
          </p:cNvPr>
          <p:cNvSpPr>
            <a:spLocks noGrp="1"/>
          </p:cNvSpPr>
          <p:nvPr/>
        </p:nvSpPr>
        <p:spPr>
          <a:xfrm>
            <a:off x="552450" y="37623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87136A-0D2D-43A8-B5A7-5085E78BED04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320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Version changes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FB8737-AE90-4A87-B7FA-94D0C700AA28}"/>
              </a:ext>
            </a:extLst>
          </p:cNvPr>
          <p:cNvSpPr>
            <a:spLocks noGrp="1"/>
          </p:cNvSpPr>
          <p:nvPr/>
        </p:nvSpPr>
        <p:spPr>
          <a:xfrm>
            <a:off x="552450" y="41814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9D8F80-28E6-47A1-B8DA-9F0D5AD4E07E}"/>
              </a:ext>
            </a:extLst>
          </p:cNvPr>
          <p:cNvSpPr>
            <a:spLocks noGrp="1"/>
          </p:cNvSpPr>
          <p:nvPr/>
        </p:nvSpPr>
        <p:spPr>
          <a:xfrm>
            <a:off x="781050" y="4076700"/>
            <a:ext cx="320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Draft rule logic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4C2A68-A600-4FEE-807A-6E567BC54166}"/>
              </a:ext>
            </a:extLst>
          </p:cNvPr>
          <p:cNvSpPr>
            <a:spLocks noGrp="1"/>
          </p:cNvSpPr>
          <p:nvPr/>
        </p:nvSpPr>
        <p:spPr>
          <a:xfrm>
            <a:off x="552450" y="46005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EFD997-4768-497E-AF0E-9F2B5C5C9E30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320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Validation and analyst approval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rcRect t="4957" b="4957"/>
          <a:stretch>
            <a:fillRect/>
          </a:stretch>
        </p:blipFill>
        <p:spPr>
          <a:xfrm>
            <a:off x="4362450" y="2190750"/>
            <a:ext cx="6762750" cy="3429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FE523B6-082E-4780-BE9B-8B6A09061EF2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922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358CF5D-1083-46FF-B220-D20318648841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demo follows a simple analyst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53133A-6D21-4AFC-A583-1DD5A1E72F52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app shows how policy text becomes reviewable rule drafts.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C75F56-4B79-4AA9-AAB3-0347E4F650EE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C2D46-6E44-46CA-8C82-1283DB490D22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2381250" cy="24765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A7743-3E57-4298-93D5-2C829B7AAA23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rPr sz="36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F12A7-84C1-494D-8F4C-D630326CE909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Load policies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912B46-49A4-416D-9AA4-BED3268BA405}"/>
              </a:ext>
            </a:extLst>
          </p:cNvPr>
          <p:cNvSpPr>
            <a:spLocks noGrp="1"/>
          </p:cNvSpPr>
          <p:nvPr/>
        </p:nvSpPr>
        <p:spPr>
          <a:xfrm>
            <a:off x="781050" y="3848100"/>
            <a:ext cx="1866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Old and new versions are pasted or loaded from samples.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2A1CBD-20DF-4827-86A1-663B4E3EB390}"/>
              </a:ext>
            </a:extLst>
          </p:cNvPr>
          <p:cNvSpPr>
            <a:spLocks noGrp="1"/>
          </p:cNvSpPr>
          <p:nvPr/>
        </p:nvSpPr>
        <p:spPr>
          <a:xfrm>
            <a:off x="3238500" y="2381250"/>
            <a:ext cx="2381250" cy="24765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57C21F-6D48-4D4F-9D06-544E54F82E91}"/>
              </a:ext>
            </a:extLst>
          </p:cNvPr>
          <p:cNvSpPr>
            <a:spLocks noGrp="1"/>
          </p:cNvSpPr>
          <p:nvPr/>
        </p:nvSpPr>
        <p:spPr>
          <a:xfrm>
            <a:off x="3467100" y="264795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rPr sz="36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34CCD9-9EA6-4769-A20D-648154C1F5FE}"/>
              </a:ext>
            </a:extLst>
          </p:cNvPr>
          <p:cNvSpPr>
            <a:spLocks noGrp="1"/>
          </p:cNvSpPr>
          <p:nvPr/>
        </p:nvSpPr>
        <p:spPr>
          <a:xfrm>
            <a:off x="3467100" y="33718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Analyze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8C87B0-9299-4D56-B41D-FC02DD95A20A}"/>
              </a:ext>
            </a:extLst>
          </p:cNvPr>
          <p:cNvSpPr>
            <a:spLocks noGrp="1"/>
          </p:cNvSpPr>
          <p:nvPr/>
        </p:nvSpPr>
        <p:spPr>
          <a:xfrm>
            <a:off x="3467100" y="3848100"/>
            <a:ext cx="1866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The app extracts key requirements and compares versions.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F5FAA7-02CC-4B2A-A1E5-4254AD6E3A2F}"/>
              </a:ext>
            </a:extLst>
          </p:cNvPr>
          <p:cNvSpPr>
            <a:spLocks noGrp="1"/>
          </p:cNvSpPr>
          <p:nvPr/>
        </p:nvSpPr>
        <p:spPr>
          <a:xfrm>
            <a:off x="5924550" y="2381250"/>
            <a:ext cx="2381250" cy="24765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C82576-F607-4D3C-9B42-6CE90AF46C9B}"/>
              </a:ext>
            </a:extLst>
          </p:cNvPr>
          <p:cNvSpPr>
            <a:spLocks noGrp="1"/>
          </p:cNvSpPr>
          <p:nvPr/>
        </p:nvSpPr>
        <p:spPr>
          <a:xfrm>
            <a:off x="6153150" y="264795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rPr sz="36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8187DD-190C-4D75-89CB-2C4736443CAA}"/>
              </a:ext>
            </a:extLst>
          </p:cNvPr>
          <p:cNvSpPr>
            <a:spLocks noGrp="1"/>
          </p:cNvSpPr>
          <p:nvPr/>
        </p:nvSpPr>
        <p:spPr>
          <a:xfrm>
            <a:off x="6153150" y="33718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Generate rules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73F26B-0ECC-45DA-9A95-158D2D300924}"/>
              </a:ext>
            </a:extLst>
          </p:cNvPr>
          <p:cNvSpPr>
            <a:spLocks noGrp="1"/>
          </p:cNvSpPr>
          <p:nvPr/>
        </p:nvSpPr>
        <p:spPr>
          <a:xfrm>
            <a:off x="6153150" y="3848100"/>
            <a:ext cx="1866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Draft JSON, If/Then, and Python-style logic is created.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07F4E6-2E48-493E-9C63-B675B2866F5E}"/>
              </a:ext>
            </a:extLst>
          </p:cNvPr>
          <p:cNvSpPr>
            <a:spLocks noGrp="1"/>
          </p:cNvSpPr>
          <p:nvPr/>
        </p:nvSpPr>
        <p:spPr>
          <a:xfrm>
            <a:off x="8610600" y="2381250"/>
            <a:ext cx="2381250" cy="24765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8FA1A6-2295-4A12-8643-EC97F9637139}"/>
              </a:ext>
            </a:extLst>
          </p:cNvPr>
          <p:cNvSpPr>
            <a:spLocks noGrp="1"/>
          </p:cNvSpPr>
          <p:nvPr/>
        </p:nvSpPr>
        <p:spPr>
          <a:xfrm>
            <a:off x="8839200" y="2647950"/>
            <a:ext cx="552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rPr sz="360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AAB90B-C033-4054-849A-5C8E0A7CB0E3}"/>
              </a:ext>
            </a:extLst>
          </p:cNvPr>
          <p:cNvSpPr>
            <a:spLocks noGrp="1"/>
          </p:cNvSpPr>
          <p:nvPr/>
        </p:nvSpPr>
        <p:spPr>
          <a:xfrm>
            <a:off x="8839200" y="33718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Review 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0643CC-B64B-4F78-A123-A4F809EA7244}"/>
              </a:ext>
            </a:extLst>
          </p:cNvPr>
          <p:cNvSpPr>
            <a:spLocks noGrp="1"/>
          </p:cNvSpPr>
          <p:nvPr/>
        </p:nvSpPr>
        <p:spPr>
          <a:xfrm>
            <a:off x="8839200" y="3848100"/>
            <a:ext cx="1866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Validation checks keep analyst approval in the loop.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691CC2-627A-499A-88C6-624927E0CEE8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252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0F6ADC5-28EB-4075-89C2-F06B39E1A1BE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sample policy changes are meaningful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A5EE74-C1CC-47EE-80EC-A9F0ACE7EE56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 knee replacement policy update becomes visible and actionable.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8C2381-D226-4B38-87D8-D33B6987A34B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0D053-9B17-4ABF-B91B-7EA9E2514131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2381250" cy="161925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B49CA-2B28-4991-AACA-57F77B2154CB}"/>
              </a:ext>
            </a:extLst>
          </p:cNvPr>
          <p:cNvSpPr>
            <a:spLocks noGrp="1"/>
          </p:cNvSpPr>
          <p:nvPr/>
        </p:nvSpPr>
        <p:spPr>
          <a:xfrm>
            <a:off x="762000" y="2552700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0F766E"/>
                </a:solidFill>
              </a:defRPr>
            </a:pPr>
            <a:r>
              <a:rPr sz="3450" b="1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8B3D1-FE05-4C61-B49E-CE56FBBB72AA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1962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extraction coverage in the demo sample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4FE366-3EEA-48BC-9F16-0A13117DE231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381250" cy="161925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8D57CC-B465-4FD7-B4CA-BD7A072ED991}"/>
              </a:ext>
            </a:extLst>
          </p:cNvPr>
          <p:cNvSpPr>
            <a:spLocks noGrp="1"/>
          </p:cNvSpPr>
          <p:nvPr/>
        </p:nvSpPr>
        <p:spPr>
          <a:xfrm>
            <a:off x="3543300" y="2552700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F6B35"/>
                </a:solidFill>
              </a:defRPr>
            </a:pPr>
            <a:r>
              <a:rPr sz="3450" b="1">
                <a:solidFill>
                  <a:srgbClr val="FF6B35"/>
                </a:solidFill>
              </a:rPr>
              <a:t>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F5CAC0-8710-4FC0-B60F-1E16B1A44A10}"/>
              </a:ext>
            </a:extLst>
          </p:cNvPr>
          <p:cNvSpPr>
            <a:spLocks noGrp="1"/>
          </p:cNvSpPr>
          <p:nvPr/>
        </p:nvSpPr>
        <p:spPr>
          <a:xfrm>
            <a:off x="3543300" y="3238500"/>
            <a:ext cx="1962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detected sentence-level policy changes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DE4EEB-49A3-41C6-B731-2CB0A7621D1D}"/>
              </a:ext>
            </a:extLst>
          </p:cNvPr>
          <p:cNvSpPr>
            <a:spLocks noGrp="1"/>
          </p:cNvSpPr>
          <p:nvPr/>
        </p:nvSpPr>
        <p:spPr>
          <a:xfrm>
            <a:off x="6115050" y="2362200"/>
            <a:ext cx="2381250" cy="161925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174AE-73A2-4DA8-9968-D5962DABAFD0}"/>
              </a:ext>
            </a:extLst>
          </p:cNvPr>
          <p:cNvSpPr>
            <a:spLocks noGrp="1"/>
          </p:cNvSpPr>
          <p:nvPr/>
        </p:nvSpPr>
        <p:spPr>
          <a:xfrm>
            <a:off x="6324600" y="2552700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1D4ED8"/>
                </a:solidFill>
              </a:defRPr>
            </a:pPr>
            <a:r>
              <a:rPr sz="3450" b="1">
                <a:solidFill>
                  <a:srgbClr val="1D4ED8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4BAD78-D6D9-4A49-A68E-571A08EF76C8}"/>
              </a:ext>
            </a:extLst>
          </p:cNvPr>
          <p:cNvSpPr>
            <a:spLocks noGrp="1"/>
          </p:cNvSpPr>
          <p:nvPr/>
        </p:nvSpPr>
        <p:spPr>
          <a:xfrm>
            <a:off x="6324600" y="3238500"/>
            <a:ext cx="1962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draft rules generated for analyst review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2AFBC0-0099-4E49-82A2-D5B2460F7388}"/>
              </a:ext>
            </a:extLst>
          </p:cNvPr>
          <p:cNvSpPr>
            <a:spLocks noGrp="1"/>
          </p:cNvSpPr>
          <p:nvPr/>
        </p:nvSpPr>
        <p:spPr>
          <a:xfrm>
            <a:off x="8896350" y="2362200"/>
            <a:ext cx="2781300" cy="21717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2ABD31-DBD8-44C2-9222-CF7737264D12}"/>
              </a:ext>
            </a:extLst>
          </p:cNvPr>
          <p:cNvSpPr>
            <a:spLocks noGrp="1"/>
          </p:cNvSpPr>
          <p:nvPr/>
        </p:nvSpPr>
        <p:spPr>
          <a:xfrm>
            <a:off x="8896350" y="2362200"/>
            <a:ext cx="76200" cy="21717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5D1364-938F-4181-879C-869E4DAC2345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Detected changes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DC1B9D-107D-4B8F-B9A9-66BB857C6F7A}"/>
              </a:ext>
            </a:extLst>
          </p:cNvPr>
          <p:cNvSpPr>
            <a:spLocks noGrp="1"/>
          </p:cNvSpPr>
          <p:nvPr/>
        </p:nvSpPr>
        <p:spPr>
          <a:xfrm>
            <a:off x="9124950" y="2990850"/>
            <a:ext cx="23812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New procedure code 27446, marketplace members, updated prior authorization language, shared decision-making attestation, and a new 2026 effective date.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CAEC3A-1449-4111-BDFE-2A7AF8F750D8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5069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59EBBA-0412-4478-8609-8A835FA25CAE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Policy language becomes draft rule logic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2B1F83-8F7E-43A2-8888-FF223E74B997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POC directly addresses conversion into rules and programming-style output.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0C373A-88CC-4D41-B93B-B7CB6B06CA14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C10FAD-F753-4FB7-8036-BABCD55C0E28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7048500" cy="22860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9DCAE4-76B4-421B-B28F-0F6372EEF772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64770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IF procedure_code is 27447 or 27446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AND prior_authorization_required is true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AND prior_authorization_on_claim is false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THEN flag_for_review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1F2817-A657-440D-9915-119CF5778262}"/>
              </a:ext>
            </a:extLst>
          </p:cNvPr>
          <p:cNvSpPr>
            <a:spLocks noGrp="1"/>
          </p:cNvSpPr>
          <p:nvPr/>
        </p:nvSpPr>
        <p:spPr>
          <a:xfrm>
            <a:off x="8286750" y="2381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Why this matters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B738B4-AD7E-44DD-8B28-CC00F6DE1B5D}"/>
              </a:ext>
            </a:extLst>
          </p:cNvPr>
          <p:cNvSpPr>
            <a:spLocks noGrp="1"/>
          </p:cNvSpPr>
          <p:nvPr/>
        </p:nvSpPr>
        <p:spPr>
          <a:xfrm>
            <a:off x="8305800" y="30765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D00EBA-4C1F-4518-B9C8-EFF5E9AD7F85}"/>
              </a:ext>
            </a:extLst>
          </p:cNvPr>
          <p:cNvSpPr>
            <a:spLocks noGrp="1"/>
          </p:cNvSpPr>
          <p:nvPr/>
        </p:nvSpPr>
        <p:spPr>
          <a:xfrm>
            <a:off x="8534400" y="2971800"/>
            <a:ext cx="2628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Makes policy logic reviewable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1E600D-76CC-459A-9E0F-CEC547A91FFA}"/>
              </a:ext>
            </a:extLst>
          </p:cNvPr>
          <p:cNvSpPr>
            <a:spLocks noGrp="1"/>
          </p:cNvSpPr>
          <p:nvPr/>
        </p:nvSpPr>
        <p:spPr>
          <a:xfrm>
            <a:off x="8305800" y="35528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78A99-6042-40E6-8505-69BF74F8AAF7}"/>
              </a:ext>
            </a:extLst>
          </p:cNvPr>
          <p:cNvSpPr>
            <a:spLocks noGrp="1"/>
          </p:cNvSpPr>
          <p:nvPr/>
        </p:nvSpPr>
        <p:spPr>
          <a:xfrm>
            <a:off x="8534400" y="3448050"/>
            <a:ext cx="2628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Keeps source text traceable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A5F3B-3272-4D1F-9661-888423FAF183}"/>
              </a:ext>
            </a:extLst>
          </p:cNvPr>
          <p:cNvSpPr>
            <a:spLocks noGrp="1"/>
          </p:cNvSpPr>
          <p:nvPr/>
        </p:nvSpPr>
        <p:spPr>
          <a:xfrm>
            <a:off x="8305800" y="40290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61B186-15DF-4024-9B2B-58E8AF4518DC}"/>
              </a:ext>
            </a:extLst>
          </p:cNvPr>
          <p:cNvSpPr>
            <a:spLocks noGrp="1"/>
          </p:cNvSpPr>
          <p:nvPr/>
        </p:nvSpPr>
        <p:spPr>
          <a:xfrm>
            <a:off x="8534400" y="3924300"/>
            <a:ext cx="2628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Supports claims review workflows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E7089B-974A-4FCD-8D57-57DB34A11026}"/>
              </a:ext>
            </a:extLst>
          </p:cNvPr>
          <p:cNvSpPr>
            <a:spLocks noGrp="1"/>
          </p:cNvSpPr>
          <p:nvPr/>
        </p:nvSpPr>
        <p:spPr>
          <a:xfrm>
            <a:off x="8305800" y="45053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4CFF40-00B4-40AC-A79B-0FC46E15C341}"/>
              </a:ext>
            </a:extLst>
          </p:cNvPr>
          <p:cNvSpPr>
            <a:spLocks noGrp="1"/>
          </p:cNvSpPr>
          <p:nvPr/>
        </p:nvSpPr>
        <p:spPr>
          <a:xfrm>
            <a:off x="8534400" y="4400550"/>
            <a:ext cx="2628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Requires analyst approval before use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712B7A-CE96-4E47-9DF8-6A6269B3D477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6080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AC4B420-B10D-4DDD-A6D6-3E9933301769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POC uses AI carefully, with controls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A30C9D-ED1C-4096-927D-AB830BB02326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AI improves extraction and summarization, but validation keeps the workflow safe.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6C583F-F477-4182-B7BE-9EC142C28FBB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501E2-838C-4CBF-95DC-C7E4ED98F1D9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3257550" cy="219075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60E20-D00F-410C-B255-2EB0E3CDE90D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76200" cy="21907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2FCBD3-FEC7-495D-B3D0-6E3B100D66B9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AI assistance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3C7634-2BA8-44FB-8F48-60D6E645F7E8}"/>
              </a:ext>
            </a:extLst>
          </p:cNvPr>
          <p:cNvSpPr>
            <a:spLocks noGrp="1"/>
          </p:cNvSpPr>
          <p:nvPr/>
        </p:nvSpPr>
        <p:spPr>
          <a:xfrm>
            <a:off x="781050" y="2971800"/>
            <a:ext cx="28575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OpenAI mode can generate summaries, requirements, changes, and draft rules from policy text.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5FD679-93DF-46F8-AC00-A982A97BD86A}"/>
              </a:ext>
            </a:extLst>
          </p:cNvPr>
          <p:cNvSpPr>
            <a:spLocks noGrp="1"/>
          </p:cNvSpPr>
          <p:nvPr/>
        </p:nvSpPr>
        <p:spPr>
          <a:xfrm>
            <a:off x="4324350" y="2343150"/>
            <a:ext cx="3257550" cy="219075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6FFE74-39D8-460A-87F6-4913C01F76E7}"/>
              </a:ext>
            </a:extLst>
          </p:cNvPr>
          <p:cNvSpPr>
            <a:spLocks noGrp="1"/>
          </p:cNvSpPr>
          <p:nvPr/>
        </p:nvSpPr>
        <p:spPr>
          <a:xfrm>
            <a:off x="4324350" y="2343150"/>
            <a:ext cx="76200" cy="21907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EA29A9-3A3D-43A4-BEE4-8DB9841A7D92}"/>
              </a:ext>
            </a:extLst>
          </p:cNvPr>
          <p:cNvSpPr>
            <a:spLocks noGrp="1"/>
          </p:cNvSpPr>
          <p:nvPr/>
        </p:nvSpPr>
        <p:spPr>
          <a:xfrm>
            <a:off x="4552950" y="25527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Deterministic fallback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59E97-6443-4C5F-81AA-BF78803AE3FA}"/>
              </a:ext>
            </a:extLst>
          </p:cNvPr>
          <p:cNvSpPr>
            <a:spLocks noGrp="1"/>
          </p:cNvSpPr>
          <p:nvPr/>
        </p:nvSpPr>
        <p:spPr>
          <a:xfrm>
            <a:off x="4552950" y="2971800"/>
            <a:ext cx="28575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app also has local extraction logic so the demo works without an API key.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1FE029-553F-48F8-99BE-CE568BE0A54F}"/>
              </a:ext>
            </a:extLst>
          </p:cNvPr>
          <p:cNvSpPr>
            <a:spLocks noGrp="1"/>
          </p:cNvSpPr>
          <p:nvPr/>
        </p:nvSpPr>
        <p:spPr>
          <a:xfrm>
            <a:off x="8096250" y="2343150"/>
            <a:ext cx="3257550" cy="219075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F4F3C-941C-4C1F-88AD-AD9462D9B03E}"/>
              </a:ext>
            </a:extLst>
          </p:cNvPr>
          <p:cNvSpPr>
            <a:spLocks noGrp="1"/>
          </p:cNvSpPr>
          <p:nvPr/>
        </p:nvSpPr>
        <p:spPr>
          <a:xfrm>
            <a:off x="8096250" y="2343150"/>
            <a:ext cx="76200" cy="21907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6E0668-4CB0-47A4-8028-B5DCFD753B85}"/>
              </a:ext>
            </a:extLst>
          </p:cNvPr>
          <p:cNvSpPr>
            <a:spLocks noGrp="1"/>
          </p:cNvSpPr>
          <p:nvPr/>
        </p:nvSpPr>
        <p:spPr>
          <a:xfrm>
            <a:off x="8324850" y="25527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Human-in-the-loop control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38B3CE-0616-431C-829F-B0C8B8D0BD24}"/>
              </a:ext>
            </a:extLst>
          </p:cNvPr>
          <p:cNvSpPr>
            <a:spLocks noGrp="1"/>
          </p:cNvSpPr>
          <p:nvPr/>
        </p:nvSpPr>
        <p:spPr>
          <a:xfrm>
            <a:off x="8324850" y="2971800"/>
            <a:ext cx="28575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Draft rules remain reviewable outputs, not final payment decisions.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BC8A8E-2366-4035-8574-86A63DD51336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740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A059530-D38C-41DF-976E-A99A5F964BB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Cotiviti can make policy review auditable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FB3C45-CD1F-4134-917C-F4B3B5483E67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strategic value is speed, consistency, and traceability.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AAED74-CF71-436F-B2B9-15B2A54787C3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51F418-65AB-41D2-832A-CC541C0B1D51}"/>
              </a:ext>
            </a:extLst>
          </p:cNvPr>
          <p:cNvSpPr>
            <a:spLocks noGrp="1"/>
          </p:cNvSpPr>
          <p:nvPr/>
        </p:nvSpPr>
        <p:spPr>
          <a:xfrm>
            <a:off x="552450" y="24860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84087-4F03-4497-BBD6-4BBD3F8F4791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Reduce manual reading and policy-change review time.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35B5ED-152B-4FC6-B739-32BE5CD78AC9}"/>
              </a:ext>
            </a:extLst>
          </p:cNvPr>
          <p:cNvSpPr>
            <a:spLocks noGrp="1"/>
          </p:cNvSpPr>
          <p:nvPr/>
        </p:nvSpPr>
        <p:spPr>
          <a:xfrm>
            <a:off x="552450" y="30384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8B8FFB-E976-41A8-9953-6FF1CC12994F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Improve consistency when translating policy into operational logic.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741E3-72D1-43AE-8B1A-4856DEC681A3}"/>
              </a:ext>
            </a:extLst>
          </p:cNvPr>
          <p:cNvSpPr>
            <a:spLocks noGrp="1"/>
          </p:cNvSpPr>
          <p:nvPr/>
        </p:nvSpPr>
        <p:spPr>
          <a:xfrm>
            <a:off x="552450" y="35909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FB28B6-A680-45BC-9C0A-C703DF670101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Create an audit trail from source sentence to draft rule.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560C6E-7FA2-4424-94E6-76402BEB667F}"/>
              </a:ext>
            </a:extLst>
          </p:cNvPr>
          <p:cNvSpPr>
            <a:spLocks noGrp="1"/>
          </p:cNvSpPr>
          <p:nvPr/>
        </p:nvSpPr>
        <p:spPr>
          <a:xfrm>
            <a:off x="552450" y="41433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520EC8-04EF-43F5-A8A0-A7BE02F8A9A1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Support payer clients in payment accuracy and claims review.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CB5B2-5CD1-4D7A-A458-CF4168C23314}"/>
              </a:ext>
            </a:extLst>
          </p:cNvPr>
          <p:cNvSpPr>
            <a:spLocks noGrp="1"/>
          </p:cNvSpPr>
          <p:nvPr/>
        </p:nvSpPr>
        <p:spPr>
          <a:xfrm>
            <a:off x="552450" y="469582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D684D4-1279-40FA-BF79-13044A46CC65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Keep expert analysts accountable for final approval.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BB99BB-CFF3-494D-ABD5-D3B1A3D62AC0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2476500" cy="200025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024041-FE2E-4E9B-9825-9C2E31398C8E}"/>
              </a:ext>
            </a:extLst>
          </p:cNvPr>
          <p:cNvSpPr>
            <a:spLocks noGrp="1"/>
          </p:cNvSpPr>
          <p:nvPr/>
        </p:nvSpPr>
        <p:spPr>
          <a:xfrm>
            <a:off x="8810625" y="26479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Recommended next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F65D9-9CBD-4E8A-80C7-F2CAA3AC7395}"/>
              </a:ext>
            </a:extLst>
          </p:cNvPr>
          <p:cNvSpPr>
            <a:spLocks noGrp="1"/>
          </p:cNvSpPr>
          <p:nvPr/>
        </p:nvSpPr>
        <p:spPr>
          <a:xfrm>
            <a:off x="8810625" y="3333750"/>
            <a:ext cx="19240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Pilot a policy-to-rule assistant on public or synthetic policies, then evaluate accuracy with analyst review.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E497EA-0CA3-41BD-9661-DDD507A1D62F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8937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2721C1-E1D5-4FFE-B70E-A35625EC88CC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report and POC tell one story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1F858A-578C-4E6A-AC88-2217BCD760BF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Written policy can become structured, traceable, analyst-reviewed logic.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E9D9A1-77BF-49DF-AD7C-660F5933E69B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C57C93-606E-446C-BD86-D5EDB444B6F3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1057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The report explains the strategic opportunity: healthcare policy content is difficult to operationalize, but AI-assisted extraction and computable rule formats can help payer teams move faster while preserving review controls.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DC6B5F-391D-49C3-9F51-0445C83C3857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10572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The POC demonstrates that opportunity in a working app: compare policies, extract requirements, generate draft rules, and keep a human analyst in the approval loop.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1ADDCE-4A84-433A-9A43-AD77646DEACC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Bottom line: this is a practical policy intelligence workflow for payment accuracy and payer operations.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73174-65E6-412F-98B7-E129237368AA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6697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86ACE0B-266B-40BE-A7AF-7254DB58607E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885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24F2A6-A293-4757-9894-492C00F88FBE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Sources used in the written report and presentation.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B328F3-C427-42C8-8FB3-B294B36A21B8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3A515B-8062-4D1D-8A4D-5C1152DFED0E}"/>
              </a:ext>
            </a:extLst>
          </p:cNvPr>
          <p:cNvSpPr>
            <a:spLocks noGrp="1"/>
          </p:cNvSpPr>
          <p:nvPr/>
        </p:nvSpPr>
        <p:spPr>
          <a:xfrm>
            <a:off x="552450" y="24669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C7F800-F4DA-4891-82BA-A704997BA03D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American Medical Association. CPT code set overview. 2026.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81ABB3-3873-48AD-9F35-32A2B1EAEA3D}"/>
              </a:ext>
            </a:extLst>
          </p:cNvPr>
          <p:cNvSpPr>
            <a:spLocks noGrp="1"/>
          </p:cNvSpPr>
          <p:nvPr/>
        </p:nvSpPr>
        <p:spPr>
          <a:xfrm>
            <a:off x="552450" y="29241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C4DC0D-11EC-43B5-80F7-62FA8E0A0B53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Centers for Medicare &amp; Medicaid Services. CMS-0057-F final rule. 2024.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664E48-0C3A-4223-B1BD-53B60B1878CF}"/>
              </a:ext>
            </a:extLst>
          </p:cNvPr>
          <p:cNvSpPr>
            <a:spLocks noGrp="1"/>
          </p:cNvSpPr>
          <p:nvPr/>
        </p:nvSpPr>
        <p:spPr>
          <a:xfrm>
            <a:off x="552450" y="33813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36EFF1-491A-49C2-A8AD-791583F93B55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eCQI Resource Center. Clinical Quality Language versions. 2026.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1B2FFB-0236-4AB1-B372-1088CF1EAED3}"/>
              </a:ext>
            </a:extLst>
          </p:cNvPr>
          <p:cNvSpPr>
            <a:spLocks noGrp="1"/>
          </p:cNvSpPr>
          <p:nvPr/>
        </p:nvSpPr>
        <p:spPr>
          <a:xfrm>
            <a:off x="552450" y="38385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E8E4EC-B650-4EAA-A337-EEC42A41959A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Deng et al. CPGPrompt: Translating clinical guidelines into LLM-executable decision support. 2026.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E34C2F-B590-45F1-A320-8D028F0DDA4C}"/>
              </a:ext>
            </a:extLst>
          </p:cNvPr>
          <p:cNvSpPr>
            <a:spLocks noGrp="1"/>
          </p:cNvSpPr>
          <p:nvPr/>
        </p:nvSpPr>
        <p:spPr>
          <a:xfrm>
            <a:off x="552450" y="42957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4C5E5A-6BE8-4010-BC5C-ABCEF9DE873A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Kastroulis et al. Introducing Hermes: Executing Clinical Quality Language. 2022.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106753-1ADB-4E3C-8D24-CF7C3ACAF373}"/>
              </a:ext>
            </a:extLst>
          </p:cNvPr>
          <p:cNvSpPr>
            <a:spLocks noGrp="1"/>
          </p:cNvSpPr>
          <p:nvPr/>
        </p:nvSpPr>
        <p:spPr>
          <a:xfrm>
            <a:off x="552450" y="4752975"/>
            <a:ext cx="76200" cy="762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32229B-0D3A-407E-8CC5-FDAF7649A25D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1005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Riquelme et al. Large language models for automating clinical data standardization. 2025.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1DAE62-1337-4050-8784-3A11D40DAEB5}"/>
              </a:ext>
            </a:extLst>
          </p:cNvPr>
          <p:cNvSpPr>
            <a:spLocks noGrp="1"/>
          </p:cNvSpPr>
          <p:nvPr/>
        </p:nvSpPr>
        <p:spPr>
          <a:xfrm>
            <a:off x="11068050" y="62293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77663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Microsoft Macintosh PowerPoint</Application>
  <DocSecurity>0</DocSecurity>
  <PresentationFormat>Widescreen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Sai Surya Likhit Monavarthy</cp:lastModifiedBy>
  <cp:revision>1</cp:revision>
  <dcterms:created xsi:type="dcterms:W3CDTF">2026-07-03T22:55:22Z</dcterms:created>
  <dcterms:modified xsi:type="dcterms:W3CDTF">2026-07-03T23:22:09Z</dcterms:modified>
</cp:coreProperties>
</file>